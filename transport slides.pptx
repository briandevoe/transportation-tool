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61" r:id="rId4"/>
    <p:sldMasterId id="2147483743" r:id="rId5"/>
    <p:sldMasterId id="2147483752" r:id="rId6"/>
    <p:sldMasterId id="2147483741" r:id="rId7"/>
  </p:sldMasterIdLst>
  <p:notesMasterIdLst>
    <p:notesMasterId r:id="rId12"/>
  </p:notesMasterIdLst>
  <p:handoutMasterIdLst>
    <p:handoutMasterId r:id="rId13"/>
  </p:handoutMasterIdLst>
  <p:sldIdLst>
    <p:sldId id="258" r:id="rId8"/>
    <p:sldId id="259" r:id="rId9"/>
    <p:sldId id="260" r:id="rId10"/>
    <p:sldId id="261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5781"/>
    <a:srgbClr val="E9B31E"/>
    <a:srgbClr val="1F4E79"/>
    <a:srgbClr val="045780"/>
    <a:srgbClr val="339900"/>
    <a:srgbClr val="EAA22E"/>
    <a:srgbClr val="E6A900"/>
    <a:srgbClr val="013457"/>
    <a:srgbClr val="F2F2F2"/>
    <a:srgbClr val="EBB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53" autoAdjust="0"/>
    <p:restoredTop sz="94404" autoAdjust="0"/>
  </p:normalViewPr>
  <p:slideViewPr>
    <p:cSldViewPr snapToGrid="0" showGuides="1">
      <p:cViewPr varScale="1">
        <p:scale>
          <a:sx n="63" d="100"/>
          <a:sy n="63" d="100"/>
        </p:scale>
        <p:origin x="472" y="56"/>
      </p:cViewPr>
      <p:guideLst>
        <p:guide orient="horz" pos="2016"/>
        <p:guide pos="3864"/>
      </p:guideLst>
    </p:cSldViewPr>
  </p:slideViewPr>
  <p:outlineViewPr>
    <p:cViewPr>
      <p:scale>
        <a:sx n="33" d="100"/>
        <a:sy n="33" d="100"/>
      </p:scale>
      <p:origin x="0" y="-259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23" d="100"/>
          <a:sy n="123" d="100"/>
        </p:scale>
        <p:origin x="483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0CFCF53-90A3-405A-8B8C-18DCD73EC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435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D681782-AD05-4DD9-8E21-E9EBB70DBE6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41D6197-F1D7-426A-B79F-CD96F5C6F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941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Presenter_Email_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291-CA53-40C7-9ECE-5670CB9AF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061" y="1606550"/>
            <a:ext cx="9144000" cy="596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D939F-6A38-4A36-93F3-8C38DFE731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8061" y="2203450"/>
            <a:ext cx="9144000" cy="3524250"/>
          </a:xfrm>
        </p:spPr>
        <p:txBody>
          <a:bodyPr/>
          <a:lstStyle>
            <a:lvl1pPr>
              <a:defRPr/>
            </a:lvl1pPr>
            <a:lvl2pPr>
              <a:spcBef>
                <a:spcPts val="4800"/>
              </a:spcBef>
              <a:defRPr/>
            </a:lvl2pPr>
            <a:lvl3pPr>
              <a:defRPr/>
            </a:lvl3pPr>
            <a:lvl4pPr>
              <a:spcBef>
                <a:spcPts val="48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Presenter name</a:t>
            </a:r>
          </a:p>
          <a:p>
            <a:pPr lvl="2"/>
            <a:r>
              <a:rPr lang="en-US" dirty="0"/>
              <a:t>Contact info</a:t>
            </a:r>
          </a:p>
          <a:p>
            <a:pPr lvl="3"/>
            <a:r>
              <a:rPr lang="en-US" dirty="0"/>
              <a:t>Date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1A9FF0D-2ABD-447A-8877-E860C61F384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978" y="6056078"/>
            <a:ext cx="2668457" cy="4625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1406C2-8DD1-BB3C-B6D1-D6E75D7C6A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76" y="6177479"/>
            <a:ext cx="4724402" cy="3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5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Presenter_Email_Occasion_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291-CA53-40C7-9ECE-5670CB9AF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061" y="1606550"/>
            <a:ext cx="9144000" cy="596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D939F-6A38-4A36-93F3-8C38DFE731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8061" y="2203450"/>
            <a:ext cx="9144000" cy="3524250"/>
          </a:xfrm>
        </p:spPr>
        <p:txBody>
          <a:bodyPr/>
          <a:lstStyle>
            <a:lvl1pPr>
              <a:defRPr/>
            </a:lvl1pPr>
            <a:lvl2pPr>
              <a:spcBef>
                <a:spcPts val="3000"/>
              </a:spcBef>
              <a:defRPr/>
            </a:lvl2pPr>
            <a:lvl3pPr>
              <a:defRPr/>
            </a:lvl3pPr>
            <a:lvl4pPr>
              <a:spcBef>
                <a:spcPts val="30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Presenter name</a:t>
            </a:r>
          </a:p>
          <a:p>
            <a:pPr lvl="2"/>
            <a:r>
              <a:rPr lang="en-US" dirty="0"/>
              <a:t>Contact info</a:t>
            </a:r>
          </a:p>
          <a:p>
            <a:pPr lvl="3"/>
            <a:r>
              <a:rPr lang="en-US" dirty="0"/>
              <a:t>Occasion</a:t>
            </a:r>
          </a:p>
          <a:p>
            <a:pPr lvl="3"/>
            <a:r>
              <a:rPr lang="en-US" dirty="0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1BF45FB-D067-99F8-0C26-F3E5344596A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978" y="6056078"/>
            <a:ext cx="2668457" cy="462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24218-E255-F6BB-12E9-82F19B85CB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76" y="6177479"/>
            <a:ext cx="4724402" cy="3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3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Presenter_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291-CA53-40C7-9ECE-5670CB9AF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061" y="1606550"/>
            <a:ext cx="9144000" cy="596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D939F-6A38-4A36-93F3-8C38DFE731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8061" y="2203450"/>
            <a:ext cx="9144000" cy="3524250"/>
          </a:xfrm>
        </p:spPr>
        <p:txBody>
          <a:bodyPr/>
          <a:lstStyle>
            <a:lvl1pPr>
              <a:defRPr/>
            </a:lvl1pPr>
            <a:lvl2pPr>
              <a:spcBef>
                <a:spcPts val="4800"/>
              </a:spcBef>
              <a:defRPr/>
            </a:lvl2pPr>
            <a:lvl3pPr>
              <a:defRPr/>
            </a:lvl3pPr>
            <a:lvl4pPr>
              <a:spcBef>
                <a:spcPts val="48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Presenter name</a:t>
            </a:r>
          </a:p>
          <a:p>
            <a:pPr lvl="3"/>
            <a:r>
              <a:rPr lang="en-US" dirty="0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FD78E2-4CDD-4425-F68A-C6E287B4D92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978" y="6056078"/>
            <a:ext cx="2668457" cy="462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247AE-6053-982C-14F3-9463C49962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76" y="6177479"/>
            <a:ext cx="4724402" cy="3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8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Presenter_Occasion_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291-CA53-40C7-9ECE-5670CB9AF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061" y="1606550"/>
            <a:ext cx="9144000" cy="596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D939F-6A38-4A36-93F3-8C38DFE731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8061" y="2203450"/>
            <a:ext cx="9144000" cy="3524250"/>
          </a:xfrm>
        </p:spPr>
        <p:txBody>
          <a:bodyPr/>
          <a:lstStyle>
            <a:lvl1pPr>
              <a:defRPr/>
            </a:lvl1pPr>
            <a:lvl2pPr>
              <a:spcBef>
                <a:spcPts val="3600"/>
              </a:spcBef>
              <a:defRPr/>
            </a:lvl2pPr>
            <a:lvl3pPr>
              <a:defRPr/>
            </a:lvl3pPr>
            <a:lvl4pPr>
              <a:spcBef>
                <a:spcPts val="36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Presenter name</a:t>
            </a:r>
          </a:p>
          <a:p>
            <a:pPr lvl="1"/>
            <a:r>
              <a:rPr lang="en-US" dirty="0"/>
              <a:t>Occasion</a:t>
            </a:r>
          </a:p>
          <a:p>
            <a:pPr lvl="3"/>
            <a:r>
              <a:rPr lang="en-US" dirty="0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FEB7AC1-C604-DE23-4E9E-69CC2F81718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978" y="6056078"/>
            <a:ext cx="2668457" cy="462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70F25-45C9-5207-602E-ACC86F5F29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76" y="6177479"/>
            <a:ext cx="4724402" cy="3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3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291-CA53-40C7-9ECE-5670CB9AF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061" y="2463800"/>
            <a:ext cx="9144000" cy="596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D939F-6A38-4A36-93F3-8C38DFE731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8061" y="3060700"/>
            <a:ext cx="9144000" cy="596900"/>
          </a:xfrm>
        </p:spPr>
        <p:txBody>
          <a:bodyPr/>
          <a:lstStyle>
            <a:lvl1pPr>
              <a:defRPr/>
            </a:lvl1pPr>
            <a:lvl2pPr>
              <a:spcBef>
                <a:spcPts val="4800"/>
              </a:spcBef>
              <a:defRPr/>
            </a:lvl2pPr>
            <a:lvl3pPr>
              <a:defRPr/>
            </a:lvl3pPr>
            <a:lvl4pPr>
              <a:spcBef>
                <a:spcPts val="48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Subtitle</a:t>
            </a:r>
          </a:p>
          <a:p>
            <a:pPr lvl="1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F7DC77-0DC2-4E2E-8665-E9426E48BC6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B8E0D20-E12B-4D85-BD1E-3F601A7B9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15E3D1E-9924-4F84-874F-68C63FBE024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EF8EE9-A8B3-4080-8328-F6C78B4C2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0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(level 1 and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8" y="1363663"/>
            <a:ext cx="10969625" cy="48244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69AAA0-AF1A-4F86-AA44-81C31DEDE4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06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bullets (level 1 and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0F3003-0414-4C03-ACA4-22DAB9D8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8" y="1363663"/>
            <a:ext cx="10969625" cy="48244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314072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(level 2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8" y="1363663"/>
            <a:ext cx="10969625" cy="4824412"/>
          </a:xfrm>
        </p:spPr>
        <p:txBody>
          <a:bodyPr/>
          <a:lstStyle>
            <a:lvl1pPr marL="0" indent="0">
              <a:buNone/>
              <a:defRPr/>
            </a:lvl1pPr>
            <a:lvl2pPr marL="685800" indent="-400050"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C5F18-20C6-49DF-BB34-7F74633AE1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80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vel 1 bolded, level 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8" y="1363663"/>
            <a:ext cx="10969625" cy="4824412"/>
          </a:xfrm>
        </p:spPr>
        <p:txBody>
          <a:bodyPr/>
          <a:lstStyle>
            <a:lvl1pPr marL="0" indent="0">
              <a:buNone/>
              <a:defRPr b="1"/>
            </a:lvl1pPr>
            <a:lvl2pPr marL="685800" indent="-400050"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D01B-8656-4A01-B582-0A07A5C9E3D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4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vel 1 bolded, level 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9" y="1363663"/>
            <a:ext cx="5359625" cy="4824412"/>
          </a:xfrm>
        </p:spPr>
        <p:txBody>
          <a:bodyPr/>
          <a:lstStyle>
            <a:lvl1pPr marL="0" indent="0">
              <a:buNone/>
              <a:defRPr b="1"/>
            </a:lvl1pPr>
            <a:lvl2pPr marL="685800" indent="-400050"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D9CA4F4-1C9D-42F6-ADDC-48E7B1530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1185" y="1363663"/>
            <a:ext cx="5359625" cy="4824412"/>
          </a:xfrm>
        </p:spPr>
        <p:txBody>
          <a:bodyPr/>
          <a:lstStyle>
            <a:lvl1pPr marL="0" indent="0">
              <a:buNone/>
              <a:defRPr b="1"/>
            </a:lvl1pPr>
            <a:lvl2pPr marL="685800" indent="-400050"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8357-E76C-425F-90D2-84B5555F80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24100" y="6356349"/>
            <a:ext cx="84836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92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0CB-18DC-44F7-8DB7-ED7711A79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3D6F-6F49-400F-B7DA-0A2B3D33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828D59-C418-43B2-BEB2-E59B3DACC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188" y="1363663"/>
            <a:ext cx="3474720" cy="4824412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300" b="1"/>
            </a:lvl1pPr>
            <a:lvl2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rgbClr val="04578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D9CA4F4-1C9D-42F6-ADDC-48E7B1530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0228" y="1363663"/>
            <a:ext cx="3474720" cy="4824412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lang="en-US" sz="2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900"/>
              </a:spcBef>
              <a:spcAft>
                <a:spcPts val="0"/>
              </a:spcAft>
              <a:buNone/>
              <a:defRPr lang="en-US" sz="1800" b="1" kern="1200" dirty="0">
                <a:solidFill>
                  <a:srgbClr val="04578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8357-E76C-425F-90D2-84B5555F80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24100" y="6356349"/>
            <a:ext cx="8483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E17750C-AE6B-40A0-A647-8A147D604A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06092" y="1363663"/>
            <a:ext cx="3474720" cy="4824412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300" b="1"/>
            </a:lvl1pPr>
            <a:lvl2pPr marL="0" indent="0">
              <a:spcBef>
                <a:spcPts val="900"/>
              </a:spcBef>
              <a:spcAft>
                <a:spcPts val="0"/>
              </a:spcAft>
              <a:buNone/>
              <a:defRPr sz="1800" b="1">
                <a:solidFill>
                  <a:srgbClr val="04578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632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15E3D1E-9924-4F84-874F-68C63FBE024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EF8EE9-A8B3-4080-8328-F6C78B4C2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4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A186-A3FD-4A90-BA8E-06835AA73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56487"/>
            <a:ext cx="11484610" cy="663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3B3B2-51B3-48DC-8B88-9D8CE3766E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66950" y="6356349"/>
            <a:ext cx="854075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D4EAD-C8B1-4AF0-A8D2-303EA79501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83594" y="6356349"/>
            <a:ext cx="862966" cy="365125"/>
          </a:xfrm>
        </p:spPr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399CEC3-E089-4C35-A444-DC0A159DE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59274" y="1371600"/>
            <a:ext cx="7487286" cy="4824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E5237D8-0AD9-45D6-86A1-A1EA2FE143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950" y="1371600"/>
            <a:ext cx="3802063" cy="48244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1777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A186-A3FD-4A90-BA8E-06835AA73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56487"/>
            <a:ext cx="11484610" cy="663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D4EAD-C8B1-4AF0-A8D2-303EA79501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83594" y="6356349"/>
            <a:ext cx="862966" cy="365125"/>
          </a:xfrm>
        </p:spPr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399CEC3-E089-4C35-A444-DC0A159DE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1950" y="1371600"/>
            <a:ext cx="7487286" cy="4824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E5237D8-0AD9-45D6-86A1-A1EA2FE143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44497" y="1371600"/>
            <a:ext cx="3802063" cy="48244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46CED8-BC26-488A-B910-F75B3EED64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CAC627-5452-4AA3-A12B-69AA362C70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66950" y="6356349"/>
            <a:ext cx="854075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28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DDBF-924B-4059-8BDE-0589D4B3F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9" y="356487"/>
            <a:ext cx="11428012" cy="6635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4E487-83A7-4E22-8BFA-4801C32525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3A013-5030-4A5E-9B93-720886C32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2653B28-2261-407C-8B2C-2CC29CC6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1950" y="1371600"/>
            <a:ext cx="5533030" cy="487086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F35EEF1-A05E-4392-9609-250524D9D5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6930" y="1371600"/>
            <a:ext cx="5533031" cy="487375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043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/chart i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93F5-75D5-4600-8545-BED16E2C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4EAA2-2A21-441D-9830-A49B65CF94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8366A-3AF6-4E65-929A-01B37E8F87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AF25EF3D-8A0B-4C65-8F70-6BC403E180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275999"/>
            <a:ext cx="9144000" cy="48244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3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Fig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68A8-F6DF-440D-AEDB-EA8B51A11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331" y="373177"/>
            <a:ext cx="3474720" cy="64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Supertitle (All CAPS)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31F4A1-8B18-4F19-8AF5-86A3ABBD58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331" y="1374775"/>
            <a:ext cx="3474720" cy="146304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Title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44F330-7052-48F7-9486-3D4B76F7FF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1" y="3347212"/>
            <a:ext cx="3474720" cy="14630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2"/>
            <a:r>
              <a:rPr lang="en-US" dirty="0"/>
              <a:t>Definition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08FF680-361B-42E1-A32E-73424A650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331" y="5130292"/>
            <a:ext cx="3474720" cy="1226058"/>
          </a:xfrm>
        </p:spPr>
        <p:txBody>
          <a:bodyPr anchor="b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3"/>
            <a:r>
              <a:rPr lang="en-US" dirty="0"/>
              <a:t>Source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A63EF81C-37FB-4DCD-96BB-A8FE1DEE8B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65600" y="373177"/>
            <a:ext cx="7680960" cy="63093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or Figure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4BD54CE-3AA8-4494-9F3B-C4F99037A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81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Figure_no_super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31F4A1-8B18-4F19-8AF5-86A3ABBD58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539" y="373177"/>
            <a:ext cx="3474720" cy="2251074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Title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A63EF81C-37FB-4DCD-96BB-A8FE1DEE8B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65600" y="373177"/>
            <a:ext cx="7680960" cy="63093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 or Figure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4BD54CE-3AA8-4494-9F3B-C4F99037A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2BDFC-AE44-401C-B7C1-C1F9229AE0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3539" y="2830739"/>
            <a:ext cx="3474720" cy="253256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Definition/Notes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02DFAA-B8A1-4812-B1F4-339F4DE1CF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539" y="5692033"/>
            <a:ext cx="3474721" cy="664317"/>
          </a:xfrm>
        </p:spPr>
        <p:txBody>
          <a:bodyPr anchor="b"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1400" dirty="0"/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92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Figure_wide_centere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1094B-F64B-403B-A605-21A17B292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3700E-7849-48A5-8722-D1FE7F7DED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125" y="395289"/>
            <a:ext cx="11461116" cy="70375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1F9B59-C8AD-4149-89BC-25482A6F45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729" y="1365137"/>
            <a:ext cx="11466512" cy="703750"/>
          </a:xfrm>
        </p:spPr>
        <p:txBody>
          <a:bodyPr>
            <a:normAutofit/>
          </a:bodyPr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264BDA-360E-451D-9F4D-F15C4ABFE7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125" y="2334986"/>
            <a:ext cx="11461750" cy="38567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Chart/Ruler/Graph/Table</a:t>
            </a:r>
          </a:p>
          <a:p>
            <a:pPr lvl="0"/>
            <a:endParaRPr lang="en-US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CA74254-BFC7-4BF2-93F8-D9B973F087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24100" y="6356349"/>
            <a:ext cx="848360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382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Figure_wide_with_text_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E8970-177B-4DAC-BD93-5C8B1094B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BBF4CDDA-D62B-4529-B46A-A1A50502C6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125" y="1332664"/>
            <a:ext cx="11461750" cy="38567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Chart/Ruler/Graph/Table</a:t>
            </a:r>
          </a:p>
          <a:p>
            <a:pPr lvl="0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5AF57-D27B-4E24-A6DE-AEF2636A45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125" y="395289"/>
            <a:ext cx="11461116" cy="70375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04BBC-C08F-46BB-9506-14AC13BFA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729" y="5421009"/>
            <a:ext cx="11466512" cy="703750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CB2C8C7-E420-43CE-8CB8-C23E4F682DC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24100" y="6356349"/>
            <a:ext cx="848360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09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Figure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03C67-27B1-4175-AB5D-E6AE8EC02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6A1C325-8445-4948-9793-C9362EFCB1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125" y="395289"/>
            <a:ext cx="11461116" cy="703750"/>
          </a:xfrm>
        </p:spPr>
        <p:txBody>
          <a:bodyPr anchor="ctr"/>
          <a:lstStyle>
            <a:lvl1pPr algn="l">
              <a:defRPr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5AE6CED-CC6F-41A4-975A-B3CB24C1762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125" y="1332664"/>
            <a:ext cx="11461750" cy="478678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Chart/Ruler/Graph/Table</a:t>
            </a:r>
          </a:p>
          <a:p>
            <a:pPr lvl="0"/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B492AFF-3372-41F8-A778-AF5D29FB88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24100" y="6356349"/>
            <a:ext cx="848360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5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sv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9D8D04D-65F2-4E56-8A75-7C181B8C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061" y="1676688"/>
            <a:ext cx="9144000" cy="5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9143D06-C44E-4051-B62B-BA26B680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8061" y="2203450"/>
            <a:ext cx="9144000" cy="3973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Presenter name</a:t>
            </a:r>
          </a:p>
          <a:p>
            <a:pPr lvl="2"/>
            <a:r>
              <a:rPr lang="en-US" dirty="0"/>
              <a:t>Contact info</a:t>
            </a:r>
          </a:p>
          <a:p>
            <a:pPr lvl="3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5343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76" r:id="rId2"/>
    <p:sldLayoutId id="2147483774" r:id="rId3"/>
    <p:sldLayoutId id="2147483775" r:id="rId4"/>
    <p:sldLayoutId id="2147483765" r:id="rId5"/>
    <p:sldLayoutId id="2147483772" r:id="rId6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0" baseline="0">
          <a:solidFill>
            <a:srgbClr val="045781"/>
          </a:solidFill>
          <a:latin typeface="+mn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lang="en-US" sz="3200" b="1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ctr" defTabSz="914400" rtl="0" eaLnBrk="1" latinLnBrk="0" hangingPunct="1">
        <a:lnSpc>
          <a:spcPct val="100000"/>
        </a:lnSpc>
        <a:spcBef>
          <a:spcPts val="3000"/>
        </a:spcBef>
        <a:spcAft>
          <a:spcPts val="600"/>
        </a:spcAft>
        <a:buFont typeface="Arial" panose="020B0604020202020204" pitchFamily="34" charset="0"/>
        <a:buNone/>
        <a:defRPr lang="en-US" sz="20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ctr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45781"/>
          </a:solidFill>
          <a:latin typeface="+mn-lt"/>
          <a:ea typeface="+mn-ea"/>
          <a:cs typeface="+mn-cs"/>
        </a:defRPr>
      </a:lvl3pPr>
      <a:lvl4pPr marL="0" indent="0" algn="ctr" defTabSz="914400" rtl="0" eaLnBrk="1" latinLnBrk="0" hangingPunct="1">
        <a:lnSpc>
          <a:spcPct val="100000"/>
        </a:lnSpc>
        <a:spcBef>
          <a:spcPts val="300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04578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0960" y="356487"/>
            <a:ext cx="10970079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322" y="1374550"/>
            <a:ext cx="10970078" cy="4802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7E235-1DAE-4E79-8F7F-7DEEC9A66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4100" y="6356349"/>
            <a:ext cx="848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E97CBA4-A1E4-4C22-8675-918DD2EB9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837A5B-E283-4FDC-A6D1-497D05457A6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7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8" r:id="rId2"/>
    <p:sldLayoutId id="2147483749" r:id="rId3"/>
    <p:sldLayoutId id="2147483750" r:id="rId4"/>
    <p:sldLayoutId id="2147483751" r:id="rId5"/>
    <p:sldLayoutId id="2147483773" r:id="rId6"/>
    <p:sldLayoutId id="214748377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rgbClr val="04578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lang="en-US" sz="24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lang="en-US" sz="2400" b="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4578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4578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4578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1950" y="356487"/>
            <a:ext cx="11219089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1374550"/>
            <a:ext cx="3802063" cy="4802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Tevel</a:t>
            </a:r>
            <a:r>
              <a:rPr lang="en-US" dirty="0"/>
              <a:t>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7E235-1DAE-4E79-8F7F-7DEEC9A66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4100" y="6356349"/>
            <a:ext cx="848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E97CBA4-A1E4-4C22-8675-918DD2EB9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8257412-C1FD-47AC-8B89-6E5277E528E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60" r:id="rId2"/>
    <p:sldLayoutId id="2147483766" r:id="rId3"/>
    <p:sldLayoutId id="214748376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rgbClr val="04578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Wingdings" panose="05000000000000000000" pitchFamily="2" charset="2"/>
        <a:buNone/>
        <a:defRPr lang="en-US" sz="2400" b="1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None/>
        <a:tabLst/>
        <a:defRPr lang="en-US" sz="24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tabLst/>
        <a:defRPr lang="en-US" sz="23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4578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4578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E6E09-61F4-4C20-BA41-33B2214E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373177"/>
            <a:ext cx="3566160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Supertitle (All caps)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DD248-785E-44EA-8D6F-8FEB25C3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331" y="1330325"/>
            <a:ext cx="3566160" cy="1463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Title………………………</a:t>
            </a:r>
          </a:p>
          <a:p>
            <a:pPr lvl="1"/>
            <a:r>
              <a:rPr lang="en-US" dirty="0"/>
              <a:t>Subtitle……………………………</a:t>
            </a:r>
          </a:p>
          <a:p>
            <a:pPr lvl="2"/>
            <a:r>
              <a:rPr lang="en-US" dirty="0"/>
              <a:t>Definition……………………….</a:t>
            </a:r>
          </a:p>
          <a:p>
            <a:pPr lvl="3"/>
            <a:r>
              <a:rPr lang="en-US" dirty="0"/>
              <a:t>Sources……………………………………………………………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5F79-ABAC-420B-837F-689B441EF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3275" y="6356350"/>
            <a:ext cx="862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5E2E-97EF-4942-A1EC-5A34421B848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5CAF185-D416-4400-A42F-C5BB4CB36F0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40162"/>
          <a:stretch/>
        </p:blipFill>
        <p:spPr>
          <a:xfrm>
            <a:off x="450850" y="6501764"/>
            <a:ext cx="1582615" cy="16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6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69" r:id="rId2"/>
    <p:sldLayoutId id="2147483768" r:id="rId3"/>
    <p:sldLayoutId id="2147483770" r:id="rId4"/>
    <p:sldLayoutId id="2147483771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600" b="1" kern="1200" cap="all" baseline="0" dirty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3200" b="1" kern="1200" dirty="0" smtClean="0">
          <a:solidFill>
            <a:srgbClr val="04578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2400" b="0" kern="1200" dirty="0" smtClean="0">
          <a:solidFill>
            <a:srgbClr val="04578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24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1300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8820-79BF-61C6-DCEB-E0892364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do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A62B84-A7E1-FEBA-E9E4-0B50B53B0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20E87-FFDD-B493-CE14-38DC358BD4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This tool will allow us to discover and construct transportation measures efficiently and at scale</a:t>
            </a:r>
          </a:p>
          <a:p>
            <a:r>
              <a:rPr lang="en-US" dirty="0"/>
              <a:t>Scope can vary from national level and zoom down to smaller geographies</a:t>
            </a:r>
          </a:p>
          <a:p>
            <a:r>
              <a:rPr lang="en-US" dirty="0"/>
              <a:t>Build individual metrics that can be added to the COI</a:t>
            </a:r>
          </a:p>
          <a:p>
            <a:r>
              <a:rPr lang="en-US" dirty="0"/>
              <a:t>Build a separate transportation index</a:t>
            </a:r>
          </a:p>
          <a:p>
            <a:r>
              <a:rPr lang="en-US" dirty="0"/>
              <a:t>Publish as a tool for other users. Can be a python/R library or an online mapping tool</a:t>
            </a:r>
          </a:p>
          <a:p>
            <a:r>
              <a:rPr lang="en-US" dirty="0"/>
              <a:t>Use to publish papers on transportation equity using the COI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19E9-5699-9416-DBF7-6CBA44D3464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E2E1-1B4A-174B-FA9A-A35FA7E6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work: 5 layer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665E9-15DF-856B-181F-0C31ECA63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F897C-ACFC-9AEC-6DBB-4CC977A89D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Layer 1: </a:t>
            </a:r>
            <a:r>
              <a:rPr lang="en-US" b="1" dirty="0"/>
              <a:t>Geography</a:t>
            </a:r>
            <a:r>
              <a:rPr lang="en-US" dirty="0"/>
              <a:t> (block, block group, tract, county, zip code, …)</a:t>
            </a:r>
          </a:p>
          <a:p>
            <a:r>
              <a:rPr lang="en-US" dirty="0"/>
              <a:t>Layer 2: </a:t>
            </a:r>
            <a:r>
              <a:rPr lang="en-US" b="1" dirty="0"/>
              <a:t>Network</a:t>
            </a:r>
            <a:r>
              <a:rPr lang="en-US" dirty="0"/>
              <a:t> (roads, highways, bike path, bus routes, sidewalks, subway, ...)</a:t>
            </a:r>
          </a:p>
          <a:p>
            <a:r>
              <a:rPr lang="en-US" dirty="0"/>
              <a:t>Layer 3: </a:t>
            </a:r>
            <a:r>
              <a:rPr lang="en-US" b="1" dirty="0"/>
              <a:t>Population</a:t>
            </a:r>
            <a:r>
              <a:rPr lang="en-US" dirty="0"/>
              <a:t> (Census/ACS demographics data)</a:t>
            </a:r>
          </a:p>
          <a:p>
            <a:r>
              <a:rPr lang="en-US" dirty="0"/>
              <a:t>Layer 4: </a:t>
            </a:r>
            <a:r>
              <a:rPr lang="en-US" b="1" dirty="0"/>
              <a:t>Destination</a:t>
            </a:r>
            <a:r>
              <a:rPr lang="en-US" dirty="0"/>
              <a:t> (hospitals, schools, grocery stores, polling places, …) </a:t>
            </a:r>
          </a:p>
          <a:p>
            <a:r>
              <a:rPr lang="en-US" dirty="0"/>
              <a:t>Layer 5: </a:t>
            </a:r>
            <a:r>
              <a:rPr lang="en-US" b="1" dirty="0"/>
              <a:t>Reference</a:t>
            </a:r>
            <a:r>
              <a:rPr lang="en-US" dirty="0"/>
              <a:t> (COI, OA, redlining, SVI, RUCA, …)</a:t>
            </a:r>
          </a:p>
          <a:p>
            <a:pPr marL="0" indent="0">
              <a:buNone/>
            </a:pPr>
            <a:r>
              <a:rPr lang="en-US" dirty="0"/>
              <a:t>Each data layer follows an established data schema, meaning universal column names and types, which allows us to reconfigure the individual layers for analysis. </a:t>
            </a:r>
          </a:p>
          <a:p>
            <a:pPr marL="0" indent="0">
              <a:buNone/>
            </a:pPr>
            <a:r>
              <a:rPr lang="en-US" dirty="0"/>
              <a:t>All layers other than layer 4 are easy to build. Layer 4 just needs to follow a schema with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data. Layer 4 has a lot of “scale up” potential.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34F5-A684-F868-351D-D94963AC0C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* Not all layers have to be used. Layer 4 can be removed, and we can simply compute access by population to transportation networks</a:t>
            </a:r>
          </a:p>
        </p:txBody>
      </p:sp>
    </p:spTree>
    <p:extLst>
      <p:ext uri="{BB962C8B-B14F-4D97-AF65-F5344CB8AC3E}">
        <p14:creationId xmlns:p14="http://schemas.microsoft.com/office/powerpoint/2010/main" val="381239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C457-B1C7-D7BB-818B-18A2AB0F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work: computation and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D12B09-A573-CC0F-3B32-E4F52C3572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F9575-2F20-4620-6A55-BB652C13DB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Proximity &amp; counting </a:t>
            </a:r>
            <a:r>
              <a:rPr lang="en-US" dirty="0"/>
              <a:t>- nearest hospital, average of 5 nearest schools, number of grocery stores within 5-mile radius, etc.</a:t>
            </a:r>
          </a:p>
          <a:p>
            <a:r>
              <a:rPr lang="en-US" b="1" dirty="0"/>
              <a:t>Network based routing </a:t>
            </a:r>
            <a:r>
              <a:rPr lang="en-US" dirty="0"/>
              <a:t>- Shortest-path travel time via Dijkstra's algorithm and other kinds of algorithms</a:t>
            </a:r>
          </a:p>
          <a:p>
            <a:r>
              <a:rPr lang="en-US" b="1" dirty="0"/>
              <a:t>Network density &amp; length </a:t>
            </a:r>
            <a:r>
              <a:rPr lang="en-US" dirty="0"/>
              <a:t>- Total length of a given infrastructure type (e.g., bike paths, sidewalks) within a radius </a:t>
            </a:r>
          </a:p>
          <a:p>
            <a:r>
              <a:rPr lang="en-US" b="1" dirty="0"/>
              <a:t>Distance to network itself </a:t>
            </a:r>
            <a:r>
              <a:rPr lang="en-US" dirty="0"/>
              <a:t>- Distance from a population centroid to the nearest point on the network</a:t>
            </a:r>
          </a:p>
          <a:p>
            <a:pPr marL="0" indent="0">
              <a:buNone/>
            </a:pPr>
            <a:r>
              <a:rPr lang="en-US" dirty="0"/>
              <a:t>These are just some basic examples, more advanced methods surely exist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0D39-64E8-98EB-B452-3E98CA859D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6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0C00-E81B-D457-975C-E3F5234F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products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DB50E-4807-0989-45D7-5601CE2172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845E2E-97EF-4942-A1EC-5A34421B8484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C4A24-1A0C-AD3F-172B-D4E194073D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Conveyal</a:t>
            </a:r>
            <a:r>
              <a:rPr lang="en-US" dirty="0"/>
              <a:t> Analysis (built on R5) — routes well, including transit, but has no built-in way to slice results by race/age/disability. Users upload a separate population layer per demographic group and rerun the job each time. Also grid-based internally, not tract/GEOID-based.</a:t>
            </a:r>
          </a:p>
          <a:p>
            <a:r>
              <a:rPr lang="en-US" dirty="0"/>
              <a:t>Urban Institute's Spatial Equity Data Tool — doesn't measure travel time at all. It checks whether where a resource is </a:t>
            </a:r>
            <a:r>
              <a:rPr lang="en-US" i="1" dirty="0"/>
              <a:t>sited</a:t>
            </a:r>
            <a:r>
              <a:rPr lang="en-US" dirty="0"/>
              <a:t> matches where the target population lives — a composition check, not an access check. Closer in spirit to COI than to a routing tool.</a:t>
            </a:r>
          </a:p>
          <a:p>
            <a:r>
              <a:rPr lang="en-US" dirty="0"/>
              <a:t>Spatial Access of America (Purdue, 2025) — closest match: real routing + demographic-sliced access to jobs/destinations. But it's a fixed, published dataset for the 50 largest metro areas, no transit, and not something we (or anyone else) can extend.</a:t>
            </a:r>
          </a:p>
          <a:p>
            <a:r>
              <a:rPr lang="en-US" dirty="0"/>
              <a:t>Net: no existing tool does routing + demographic slicing + flexible destinations + GEOID output all at once — that combination is the gap this tool fills.</a:t>
            </a:r>
          </a:p>
          <a:p>
            <a:r>
              <a:rPr lang="en-US" dirty="0"/>
              <a:t>r5py (the routing engine behind </a:t>
            </a:r>
            <a:r>
              <a:rPr lang="en-US" dirty="0" err="1"/>
              <a:t>Conveyal</a:t>
            </a:r>
            <a:r>
              <a:rPr lang="en-US" dirty="0"/>
              <a:t>) is free and more battle-tested for transit routing than a homemade router — a plausible upgrade for Layer 2 later, not a reason to have skipped building this.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84EC-0DF9-6ED6-AA6B-E011627307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* Used </a:t>
            </a:r>
            <a:r>
              <a:rPr lang="en-US" dirty="0" err="1"/>
              <a:t>claude</a:t>
            </a:r>
            <a:r>
              <a:rPr lang="en-US" dirty="0"/>
              <a:t> and </a:t>
            </a:r>
            <a:r>
              <a:rPr lang="en-US" dirty="0" err="1"/>
              <a:t>a.i.</a:t>
            </a:r>
            <a:r>
              <a:rPr lang="en-US" dirty="0"/>
              <a:t> tools to search and compare tools, a more rigorous look at these tools is important</a:t>
            </a:r>
          </a:p>
        </p:txBody>
      </p:sp>
    </p:spTree>
    <p:extLst>
      <p:ext uri="{BB962C8B-B14F-4D97-AF65-F5344CB8AC3E}">
        <p14:creationId xmlns:p14="http://schemas.microsoft.com/office/powerpoint/2010/main" val="297764565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xt onl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hotos and Figur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harts / Figur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e0b6c-b0c4-49a3-813d-dd938f54e7e3" xsi:nil="true"/>
    <lcf76f155ced4ddcb4097134ff3c332f xmlns="a717389a-64de-41cd-8d71-5d043265a32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355BF03327842B56FC543F42AF29A" ma:contentTypeVersion="13" ma:contentTypeDescription="Create a new document." ma:contentTypeScope="" ma:versionID="a7d94c6428359bfe06b3e86dd7d712c2">
  <xsd:schema xmlns:xsd="http://www.w3.org/2001/XMLSchema" xmlns:xs="http://www.w3.org/2001/XMLSchema" xmlns:p="http://schemas.microsoft.com/office/2006/metadata/properties" xmlns:ns2="a717389a-64de-41cd-8d71-5d043265a322" xmlns:ns3="3ebe0b6c-b0c4-49a3-813d-dd938f54e7e3" targetNamespace="http://schemas.microsoft.com/office/2006/metadata/properties" ma:root="true" ma:fieldsID="795d1c509fc728e1eb1a98120b891791" ns2:_="" ns3:_="">
    <xsd:import namespace="a717389a-64de-41cd-8d71-5d043265a322"/>
    <xsd:import namespace="3ebe0b6c-b0c4-49a3-813d-dd938f54e7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7389a-64de-41cd-8d71-5d043265a3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0fdde71-3d84-4f2a-8a39-a81d5da30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e0b6c-b0c4-49a3-813d-dd938f54e7e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584f59b-4f7c-43ae-a572-655c02595a87}" ma:internalName="TaxCatchAll" ma:showField="CatchAllData" ma:web="3ebe0b6c-b0c4-49a3-813d-dd938f54e7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2437E1-CFCA-4541-960C-DF962CFD0E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8746C-6A8C-4B78-9340-5E45D9F01982}">
  <ds:schemaRefs>
    <ds:schemaRef ds:uri="http://schemas.microsoft.com/office/2006/metadata/properties"/>
    <ds:schemaRef ds:uri="http://schemas.microsoft.com/office/infopath/2007/PartnerControls"/>
    <ds:schemaRef ds:uri="3ebe0b6c-b0c4-49a3-813d-dd938f54e7e3"/>
    <ds:schemaRef ds:uri="a717389a-64de-41cd-8d71-5d043265a322"/>
  </ds:schemaRefs>
</ds:datastoreItem>
</file>

<file path=customXml/itemProps3.xml><?xml version="1.0" encoding="utf-8"?>
<ds:datastoreItem xmlns:ds="http://schemas.openxmlformats.org/officeDocument/2006/customXml" ds:itemID="{BF90475E-AC26-43CA-A050-74B8A5217C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17389a-64de-41cd-8d71-5d043265a322"/>
    <ds:schemaRef ds:uri="3ebe0b6c-b0c4-49a3-813d-dd938f54e7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Wingdings</vt:lpstr>
      <vt:lpstr>Title slides</vt:lpstr>
      <vt:lpstr>Text only</vt:lpstr>
      <vt:lpstr>Photos and Figures</vt:lpstr>
      <vt:lpstr>Charts / Figures</vt:lpstr>
      <vt:lpstr>What does it do</vt:lpstr>
      <vt:lpstr>How does it work: 5 layer approach</vt:lpstr>
      <vt:lpstr>How does it work: computation and algorithms</vt:lpstr>
      <vt:lpstr>Existing products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2020-04-14T12:35:14Z</dcterms:created>
  <dcterms:modified xsi:type="dcterms:W3CDTF">2026-07-27T15:34:40Z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0x010100A17355BF03327842B56FC543F42AF29A</vt:lpwstr>
  </property>
  <property fmtid="{D5CDD505-2E9C-101B-9397-08002B2CF9AE}" pid="3" name="MediaServiceImageTags">
    <vt:lpwstr/>
  </property>
</Properties>
</file>